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41970-FCEC-271C-71B7-D5B2B55961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D3D933-F3D0-E1AA-612E-A1AC98F376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257CB-0087-930E-23ED-654C29472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88BD-6DFA-4FD6-84CC-6D8E9CA69F8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44A54-F1E4-6B97-A276-84CB3A1E2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05F40-975B-D050-5179-9FD2FAE85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84A42-1EB3-4375-9B88-C31B95C64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244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63F0D-3083-A631-CA35-4CE69821E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B3706-293F-166B-34AF-3A1ACA38E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03629-D69D-FB34-CA77-7922CE1AC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88BD-6DFA-4FD6-84CC-6D8E9CA69F8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27A85-5F0A-D083-87CE-D04B7236D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9D3A5-F0BB-9930-7614-D828BDC9F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84A42-1EB3-4375-9B88-C31B95C64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069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7350A-CF90-ABA2-183D-E05007FE0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0B3ED-BDE6-2183-B6B8-9938AEE12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356AD-CE37-C51E-6E4D-B4A2D9F3E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88BD-6DFA-4FD6-84CC-6D8E9CA69F8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373BD-091B-62C1-ABBB-3F5BD0262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F2911-A0DC-567F-7681-4146FED8A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84A42-1EB3-4375-9B88-C31B95C64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427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35774-8587-C92C-ACBB-C37754D11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861A5-01BD-92B9-20DB-B7C8D41F22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8C128A-0826-CBF0-0104-27D0D712B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4DEE1-5BEA-925F-4B07-2B391099E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88BD-6DFA-4FD6-84CC-6D8E9CA69F8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4162A-4A33-B462-6E38-8532FC48F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4F3BC-6763-9997-499D-380C43250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84A42-1EB3-4375-9B88-C31B95C64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846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5B3E8-316A-FE6F-4C8C-B8C06786B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DD971-5948-4ED4-487A-FB0D6616A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8B5163-2DA3-971E-7438-DBC74D3AE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49E894-2F54-FF25-A706-06F0478D47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78868-78FC-6F17-89D8-F75D17C3B4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620192-9867-FAB0-24D2-897C04441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88BD-6DFA-4FD6-84CC-6D8E9CA69F8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FA2015-6382-DF74-F34D-0EDD5BA87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AEB662-73EC-36B7-4B55-AFC478224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84A42-1EB3-4375-9B88-C31B95C64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106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072F9-DC0D-6277-56C5-6EFA9E269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1DD124-221A-5888-4F86-1111AE3DC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88BD-6DFA-4FD6-84CC-6D8E9CA69F8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2C8B0F-DCCE-9CB2-2BCB-73F54097B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00D37A-FFF7-48A8-34E1-2475141B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84A42-1EB3-4375-9B88-C31B95C64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212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EC19B-314F-82BC-6E80-FD631C36A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88BD-6DFA-4FD6-84CC-6D8E9CA69F8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96C3B7-A318-1AF7-E319-105E79D76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ED352-B86D-73F1-4DA4-410CA211D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84A42-1EB3-4375-9B88-C31B95C64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782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9410C-44CB-432A-65D0-48104A4BF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8572D-0ACF-E911-F2D0-9D2430328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333FF9-7686-1C6D-5C7E-67E229CF4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028CD-2018-C02E-A360-BEA98DD58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88BD-6DFA-4FD6-84CC-6D8E9CA69F8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B586D-64F8-3559-87BA-4F8306019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930D7-7A2A-7E14-4001-E8EC8DE27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84A42-1EB3-4375-9B88-C31B95C64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258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98B5E-2858-8222-2C72-E11FE5F59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A610FF-BD9A-58EE-B9F0-7DECCE5D71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D8179-A7F2-AB0B-3C5E-7DF013204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4A33E-71B4-EAED-8C4A-52326C4CA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88BD-6DFA-4FD6-84CC-6D8E9CA69F8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F6C3E-D1CC-2682-729C-791C73646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E5CDF1-438E-4218-6613-30AE659FA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84A42-1EB3-4375-9B88-C31B95C64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374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74E7F-F823-E5B2-81A8-E48876689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A642B4-711E-220B-06CB-01E66036A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8B08B-9310-060D-B5C0-BD329D77A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88BD-6DFA-4FD6-84CC-6D8E9CA69F8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CBA88-52C1-F5C6-9A93-27164CF37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A3247-2F97-BF4D-6CD6-945D2819B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84A42-1EB3-4375-9B88-C31B95C64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604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679B29-6FC6-4B77-1BCC-9E82978EC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92D644-C875-52F9-B312-BC0A819F2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738D3-2ABC-B474-958B-E7F6FF547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88BD-6DFA-4FD6-84CC-6D8E9CA69F8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3B8BE-3E9D-61FD-3BD5-3C26FBC7A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7090F-F857-6955-83F5-203C0C13A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84A42-1EB3-4375-9B88-C31B95C64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052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DCA4E2-FE0F-B063-5402-9E8A7B83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A3685-0DCB-CAB4-0314-5BB861837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F05F1-2B8E-D269-EC8A-D29DE95B82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388BD-6DFA-4FD6-84CC-6D8E9CA69F8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DDBF2-C08F-3AA9-A0CE-3B0C378606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B8FAA-EF4E-6CA0-ABB5-6FADAC266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84A42-1EB3-4375-9B88-C31B95C64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486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81D5E2-7620-1B81-9BCB-C109B521F5D3}"/>
              </a:ext>
            </a:extLst>
          </p:cNvPr>
          <p:cNvSpPr txBox="1"/>
          <p:nvPr/>
        </p:nvSpPr>
        <p:spPr>
          <a:xfrm>
            <a:off x="1991032" y="1415845"/>
            <a:ext cx="747743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Customer Segmentation and Targeted Marketing Plan</a:t>
            </a:r>
            <a:endParaRPr lang="en-IN" sz="44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F1233E-61EF-FA31-59D5-957AC2D308BD}"/>
              </a:ext>
            </a:extLst>
          </p:cNvPr>
          <p:cNvSpPr txBox="1"/>
          <p:nvPr/>
        </p:nvSpPr>
        <p:spPr>
          <a:xfrm>
            <a:off x="7708490" y="5279923"/>
            <a:ext cx="4227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Prepared by:</a:t>
            </a:r>
            <a:r>
              <a:rPr lang="en-US" dirty="0">
                <a:solidFill>
                  <a:schemeClr val="bg1"/>
                </a:solidFill>
              </a:rPr>
              <a:t> Afinu Mansoor NK</a:t>
            </a:r>
          </a:p>
          <a:p>
            <a:r>
              <a:rPr lang="en-IN" b="1" dirty="0">
                <a:solidFill>
                  <a:schemeClr val="bg1"/>
                </a:solidFill>
              </a:rPr>
              <a:t>Tools Used:</a:t>
            </a:r>
            <a:r>
              <a:rPr lang="en-IN" dirty="0">
                <a:solidFill>
                  <a:schemeClr val="bg1"/>
                </a:solidFill>
              </a:rPr>
              <a:t> Python, Pandas, Matplotlib, Seaborn, Scikit-learn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>Dataset:</a:t>
            </a:r>
            <a:r>
              <a:rPr lang="en-IN" dirty="0">
                <a:solidFill>
                  <a:schemeClr val="bg1"/>
                </a:solidFill>
              </a:rPr>
              <a:t> Online Retail Dataset (Kaggle)</a:t>
            </a:r>
          </a:p>
        </p:txBody>
      </p:sp>
    </p:spTree>
    <p:extLst>
      <p:ext uri="{BB962C8B-B14F-4D97-AF65-F5344CB8AC3E}">
        <p14:creationId xmlns:p14="http://schemas.microsoft.com/office/powerpoint/2010/main" val="2665928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AB5F7C-E05F-0FA9-CE96-8852FFA73254}"/>
              </a:ext>
            </a:extLst>
          </p:cNvPr>
          <p:cNvSpPr txBox="1"/>
          <p:nvPr/>
        </p:nvSpPr>
        <p:spPr>
          <a:xfrm>
            <a:off x="4218039" y="757084"/>
            <a:ext cx="3755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>
                <a:solidFill>
                  <a:schemeClr val="bg1"/>
                </a:solidFill>
              </a:rPr>
              <a:t>Business Problem</a:t>
            </a:r>
            <a:endParaRPr lang="en-IN" sz="3600" b="1" u="sng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6C335-9BF2-2B25-B108-7A66A9EAD3B6}"/>
              </a:ext>
            </a:extLst>
          </p:cNvPr>
          <p:cNvSpPr txBox="1"/>
          <p:nvPr/>
        </p:nvSpPr>
        <p:spPr>
          <a:xfrm>
            <a:off x="3873909" y="2713704"/>
            <a:ext cx="52799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An online retail company wants to improve marketing ROI by segmenting its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Treating all customers the same reduces marketing ROI.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Objective</a:t>
            </a:r>
            <a:r>
              <a:rPr lang="en-US" dirty="0">
                <a:solidFill>
                  <a:schemeClr val="bg1"/>
                </a:solidFill>
              </a:rPr>
              <a:t>: Identify customer segments and create targeted marketing plans.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060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0A5F0A-F644-7F11-41E0-EB0D15520FE4}"/>
              </a:ext>
            </a:extLst>
          </p:cNvPr>
          <p:cNvSpPr txBox="1"/>
          <p:nvPr/>
        </p:nvSpPr>
        <p:spPr>
          <a:xfrm>
            <a:off x="4218039" y="757084"/>
            <a:ext cx="3755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</a:rPr>
              <a:t>Dataset Overview</a:t>
            </a:r>
            <a:endParaRPr lang="en-IN" sz="3600" b="1" u="sng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735E76-F5D5-A8A6-8FC0-4B9D1E11DE78}"/>
              </a:ext>
            </a:extLst>
          </p:cNvPr>
          <p:cNvSpPr txBox="1"/>
          <p:nvPr/>
        </p:nvSpPr>
        <p:spPr>
          <a:xfrm>
            <a:off x="3583858" y="2251587"/>
            <a:ext cx="47440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Dataset: </a:t>
            </a:r>
            <a:r>
              <a:rPr lang="en-US" dirty="0">
                <a:solidFill>
                  <a:schemeClr val="bg1"/>
                </a:solidFill>
              </a:rPr>
              <a:t>Online Retail II (2010–2011)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Source:Kaggle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Key columns: </a:t>
            </a:r>
            <a:r>
              <a:rPr lang="en-US" dirty="0">
                <a:solidFill>
                  <a:schemeClr val="bg1"/>
                </a:solidFill>
              </a:rPr>
              <a:t>InvoiceNo, StockCode, Quantity, InvoiceDate, UnitPrice, CustomerID, Country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C5DDF7-F726-1B3D-B617-26CAE7AC2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073" y="4408949"/>
            <a:ext cx="7363853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993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373DA2-04BE-1AC5-66E3-377D59EED2BF}"/>
              </a:ext>
            </a:extLst>
          </p:cNvPr>
          <p:cNvSpPr txBox="1"/>
          <p:nvPr/>
        </p:nvSpPr>
        <p:spPr>
          <a:xfrm>
            <a:off x="4218039" y="757084"/>
            <a:ext cx="3755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u="sng" dirty="0">
                <a:solidFill>
                  <a:schemeClr val="bg1"/>
                </a:solidFill>
              </a:rPr>
              <a:t>Data Profiling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67ED23-A03E-13B7-6827-7830475E6A6B}"/>
              </a:ext>
            </a:extLst>
          </p:cNvPr>
          <p:cNvSpPr txBox="1"/>
          <p:nvPr/>
        </p:nvSpPr>
        <p:spPr>
          <a:xfrm>
            <a:off x="2649794" y="2045111"/>
            <a:ext cx="689241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df.head() / df.tail() / df.sample() – to understand sample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df.shape – dataset size.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df.columns – all feature names.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df.dtypes – to identify data types (noticed “TotalCharges” as object).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df.info() – overall summary with non-null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df.nunique(), df.count() – to check unique entries and completeness.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df.describe() – basic statistical summary.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df.duplicated().sum() – checked and found no duplicates.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df.isnull().sum() – found missing values in TotalCharges.</a:t>
            </a:r>
          </a:p>
        </p:txBody>
      </p:sp>
    </p:spTree>
    <p:extLst>
      <p:ext uri="{BB962C8B-B14F-4D97-AF65-F5344CB8AC3E}">
        <p14:creationId xmlns:p14="http://schemas.microsoft.com/office/powerpoint/2010/main" val="246389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4877F8-987F-D516-EF26-FA3CC8591EAA}"/>
              </a:ext>
            </a:extLst>
          </p:cNvPr>
          <p:cNvSpPr txBox="1"/>
          <p:nvPr/>
        </p:nvSpPr>
        <p:spPr>
          <a:xfrm>
            <a:off x="3013587" y="757084"/>
            <a:ext cx="6164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u="sng" dirty="0">
                <a:solidFill>
                  <a:schemeClr val="bg1"/>
                </a:solidFill>
              </a:rPr>
              <a:t>Data Cleaning and Preparation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A6B2C4-8FE2-D635-471B-A38DA285630E}"/>
              </a:ext>
            </a:extLst>
          </p:cNvPr>
          <p:cNvSpPr txBox="1"/>
          <p:nvPr/>
        </p:nvSpPr>
        <p:spPr>
          <a:xfrm>
            <a:off x="3903406" y="2448233"/>
            <a:ext cx="46998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Removed missing customer IDs and Descriptions.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Removed negative or canceled transactions.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Created total amount = Quantity × Unit Price.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Combined data from both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Convert InvoiceDate to datetime.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756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1ADFCA-1209-98E2-24E7-B1CE5E82F57A}"/>
              </a:ext>
            </a:extLst>
          </p:cNvPr>
          <p:cNvSpPr txBox="1"/>
          <p:nvPr/>
        </p:nvSpPr>
        <p:spPr>
          <a:xfrm>
            <a:off x="4102510" y="757084"/>
            <a:ext cx="3986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u="sng" dirty="0">
                <a:solidFill>
                  <a:schemeClr val="bg1"/>
                </a:solidFill>
              </a:rPr>
              <a:t>Feature Engineering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9124C1-4D88-0A69-3256-54832C04F152}"/>
              </a:ext>
            </a:extLst>
          </p:cNvPr>
          <p:cNvSpPr txBox="1"/>
          <p:nvPr/>
        </p:nvSpPr>
        <p:spPr>
          <a:xfrm>
            <a:off x="1806678" y="2136338"/>
            <a:ext cx="459166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Calculated RFM values: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  Recency: Days since last purchase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  Frequency: Number of transactions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  Monetary: Total spending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Created an RFM table per customer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2DDE75-06EC-9A5E-0228-CA74E72DB7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6868" y="2309655"/>
            <a:ext cx="4372585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766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CF2391-7562-DCFB-1A55-21CCE20AD3F3}"/>
              </a:ext>
            </a:extLst>
          </p:cNvPr>
          <p:cNvSpPr txBox="1"/>
          <p:nvPr/>
        </p:nvSpPr>
        <p:spPr>
          <a:xfrm>
            <a:off x="3358946" y="757084"/>
            <a:ext cx="54741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u="sng" dirty="0">
                <a:solidFill>
                  <a:schemeClr val="bg1"/>
                </a:solidFill>
              </a:rPr>
              <a:t>Model Building – K-Means Clustering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34D445-C0E9-C78D-2CD8-DDCE2C7B2447}"/>
              </a:ext>
            </a:extLst>
          </p:cNvPr>
          <p:cNvSpPr txBox="1"/>
          <p:nvPr/>
        </p:nvSpPr>
        <p:spPr>
          <a:xfrm>
            <a:off x="1240094" y="2690336"/>
            <a:ext cx="42377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Used K-Means clustering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Scaled RFM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Chose 4 clusters using Elbow Method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EAF2FC-6C27-7A7E-45D8-CD02A36CD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6814" y="2311031"/>
            <a:ext cx="5854823" cy="326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200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5F4268-F703-4AAE-BA96-6D1DB014FC65}"/>
              </a:ext>
            </a:extLst>
          </p:cNvPr>
          <p:cNvSpPr txBox="1"/>
          <p:nvPr/>
        </p:nvSpPr>
        <p:spPr>
          <a:xfrm>
            <a:off x="1022555" y="2363072"/>
            <a:ext cx="34707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4 clear groups identified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Differences in spending and frequency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AA7379-F69B-6742-BD5C-4578C50088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6852" y="441659"/>
            <a:ext cx="6808010" cy="624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689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8540AC-196E-B3D3-814B-46CB1068416A}"/>
              </a:ext>
            </a:extLst>
          </p:cNvPr>
          <p:cNvSpPr txBox="1"/>
          <p:nvPr/>
        </p:nvSpPr>
        <p:spPr>
          <a:xfrm>
            <a:off x="3358946" y="757084"/>
            <a:ext cx="5474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u="sng" dirty="0">
                <a:solidFill>
                  <a:schemeClr val="bg1"/>
                </a:solidFill>
              </a:rPr>
              <a:t>Cluster Interpretation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E3C4B1A-816C-9BD1-62BD-E06E330B89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592980"/>
              </p:ext>
            </p:extLst>
          </p:nvPr>
        </p:nvGraphicFramePr>
        <p:xfrm>
          <a:off x="1894348" y="2501900"/>
          <a:ext cx="8127999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35860067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9240353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131139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Behavior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2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Occasional Buyers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Rarely buy, low spend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757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Inactive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Haven’t bought recently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5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Regular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Buy frequently, medium spend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342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Loyal / High-Value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High frequency and high spend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477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9574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E069BC-4AF8-BED6-E84B-B2FD3F03C1D8}"/>
              </a:ext>
            </a:extLst>
          </p:cNvPr>
          <p:cNvSpPr txBox="1"/>
          <p:nvPr/>
        </p:nvSpPr>
        <p:spPr>
          <a:xfrm>
            <a:off x="3358946" y="757084"/>
            <a:ext cx="5474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u="sng" dirty="0">
                <a:solidFill>
                  <a:schemeClr val="bg1"/>
                </a:solidFill>
              </a:rPr>
              <a:t>Customer Personas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9CAC92-CCBD-7151-8D78-A91DD0E9C079}"/>
              </a:ext>
            </a:extLst>
          </p:cNvPr>
          <p:cNvSpPr txBox="1"/>
          <p:nvPr/>
        </p:nvSpPr>
        <p:spPr>
          <a:xfrm>
            <a:off x="3677263" y="2605549"/>
            <a:ext cx="52897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Loyal Customers: Frequent, high spenders, brand promoters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Regular Shoppers: Consistent buyers, price sensitive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Occasional Buyers: Irregular shopping habits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Inactive Customers: Need re-engagement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389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341DE3-BFF5-E471-CE43-D7AD4BF75BCD}"/>
              </a:ext>
            </a:extLst>
          </p:cNvPr>
          <p:cNvSpPr txBox="1"/>
          <p:nvPr/>
        </p:nvSpPr>
        <p:spPr>
          <a:xfrm>
            <a:off x="2874093" y="757084"/>
            <a:ext cx="6443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u="sng" dirty="0">
                <a:solidFill>
                  <a:schemeClr val="bg1"/>
                </a:solidFill>
              </a:rPr>
              <a:t>Targeted Marketing Strategies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3B1F42-7ABE-D9D7-E1B2-A55FDE746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661314"/>
              </p:ext>
            </p:extLst>
          </p:nvPr>
        </p:nvGraphicFramePr>
        <p:xfrm>
          <a:off x="2054942" y="2367280"/>
          <a:ext cx="8105057" cy="212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86391">
                  <a:extLst>
                    <a:ext uri="{9D8B030D-6E8A-4147-A177-3AD203B41FA5}">
                      <a16:colId xmlns:a16="http://schemas.microsoft.com/office/drawing/2014/main" val="389512907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94834374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502226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Segment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Marketing Action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Goal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2396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Loyal Customers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VIP programs, early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Retention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081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Regular Customers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Reward points, discounts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Upsell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1048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Occasional Buyers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Reminder emails, offers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Increase frequency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296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Inactive Customers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Win-back campaigns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Reactivation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6570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967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F647F6-D229-DC6A-D055-F4064F3752F4}"/>
              </a:ext>
            </a:extLst>
          </p:cNvPr>
          <p:cNvSpPr txBox="1"/>
          <p:nvPr/>
        </p:nvSpPr>
        <p:spPr>
          <a:xfrm>
            <a:off x="2874093" y="757084"/>
            <a:ext cx="6443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u="sng" dirty="0">
                <a:solidFill>
                  <a:schemeClr val="bg1"/>
                </a:solidFill>
              </a:rPr>
              <a:t>Marketing ROI Benefits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1DE42A-F77C-FE3B-773F-AC953638DE1A}"/>
              </a:ext>
            </a:extLst>
          </p:cNvPr>
          <p:cNvSpPr txBox="1"/>
          <p:nvPr/>
        </p:nvSpPr>
        <p:spPr>
          <a:xfrm>
            <a:off x="4296697" y="2273849"/>
            <a:ext cx="41393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Better targeting = higher conversion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Reduced marketing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Stronger customer loyalty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Improved overall ROI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809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7BF843-471E-8EB6-7B1C-A9652713B428}"/>
              </a:ext>
            </a:extLst>
          </p:cNvPr>
          <p:cNvSpPr txBox="1"/>
          <p:nvPr/>
        </p:nvSpPr>
        <p:spPr>
          <a:xfrm>
            <a:off x="4730853" y="757084"/>
            <a:ext cx="27302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u="sng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E6123D-C7E2-5D9C-3692-750A72D9765A}"/>
              </a:ext>
            </a:extLst>
          </p:cNvPr>
          <p:cNvSpPr txBox="1"/>
          <p:nvPr/>
        </p:nvSpPr>
        <p:spPr>
          <a:xfrm>
            <a:off x="4316362" y="2690336"/>
            <a:ext cx="47293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4 customer groups identified using K-Means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Created data-driven marketing strategies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Improves ROI and customer relationships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875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442</Words>
  <Application>Microsoft Office PowerPoint</Application>
  <PresentationFormat>Widescreen</PresentationFormat>
  <Paragraphs>106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afinu mansoor</dc:creator>
  <cp:lastModifiedBy>afinu mansoor</cp:lastModifiedBy>
  <cp:revision>1</cp:revision>
  <dcterms:created xsi:type="dcterms:W3CDTF">2025-11-05T14:57:25Z</dcterms:created>
  <dcterms:modified xsi:type="dcterms:W3CDTF">2025-11-05T14:57:31Z</dcterms:modified>
</cp:coreProperties>
</file>